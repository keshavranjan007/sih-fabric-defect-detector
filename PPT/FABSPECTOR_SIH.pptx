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33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4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58F1C2-1D7F-44F6-963A-1074596642E1}">
  <a:tblStyle styleId="{6758F1C2-1D7F-44F6-963A-1074596642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33" orient="horz"/>
        <p:guide pos="3840"/>
        <p:guide pos="14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18" Type="http://schemas.openxmlformats.org/officeDocument/2006/relationships/font" Target="fonts/Oswa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cdf0231e9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8" name="Google Shape;218;g38cdf0231e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8cdf0231e9_0_3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cdf0231e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8cdf0231e9_0_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6" name="Google Shape;2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87" name="Google Shape;28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3371577" y="172766"/>
            <a:ext cx="5448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609600" y="1577340"/>
            <a:ext cx="53034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2" type="body"/>
          </p:nvPr>
        </p:nvSpPr>
        <p:spPr>
          <a:xfrm>
            <a:off x="6278880" y="1577340"/>
            <a:ext cx="53034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11376683" y="6399253"/>
            <a:ext cx="17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937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937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4.jpg"/><Relationship Id="rId7" Type="http://schemas.openxmlformats.org/officeDocument/2006/relationships/image" Target="../media/image45.jp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jpg"/><Relationship Id="rId22" Type="http://schemas.openxmlformats.org/officeDocument/2006/relationships/image" Target="../media/image43.png"/><Relationship Id="rId21" Type="http://schemas.openxmlformats.org/officeDocument/2006/relationships/image" Target="../media/image33.jpg"/><Relationship Id="rId24" Type="http://schemas.openxmlformats.org/officeDocument/2006/relationships/image" Target="../media/image27.jpg"/><Relationship Id="rId23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8.png"/><Relationship Id="rId26" Type="http://schemas.openxmlformats.org/officeDocument/2006/relationships/image" Target="../media/image18.png"/><Relationship Id="rId25" Type="http://schemas.openxmlformats.org/officeDocument/2006/relationships/image" Target="../media/image24.png"/><Relationship Id="rId28" Type="http://schemas.openxmlformats.org/officeDocument/2006/relationships/image" Target="../media/image23.png"/><Relationship Id="rId27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29" Type="http://schemas.openxmlformats.org/officeDocument/2006/relationships/image" Target="../media/image51.jpg"/><Relationship Id="rId7" Type="http://schemas.openxmlformats.org/officeDocument/2006/relationships/image" Target="../media/image12.png"/><Relationship Id="rId8" Type="http://schemas.openxmlformats.org/officeDocument/2006/relationships/image" Target="../media/image11.png"/><Relationship Id="rId11" Type="http://schemas.openxmlformats.org/officeDocument/2006/relationships/image" Target="../media/image16.png"/><Relationship Id="rId10" Type="http://schemas.openxmlformats.org/officeDocument/2006/relationships/image" Target="../media/image10.png"/><Relationship Id="rId13" Type="http://schemas.openxmlformats.org/officeDocument/2006/relationships/image" Target="../media/image14.png"/><Relationship Id="rId12" Type="http://schemas.openxmlformats.org/officeDocument/2006/relationships/image" Target="../media/image6.png"/><Relationship Id="rId15" Type="http://schemas.openxmlformats.org/officeDocument/2006/relationships/image" Target="../media/image20.png"/><Relationship Id="rId14" Type="http://schemas.openxmlformats.org/officeDocument/2006/relationships/image" Target="../media/image15.png"/><Relationship Id="rId17" Type="http://schemas.openxmlformats.org/officeDocument/2006/relationships/image" Target="../media/image46.jpg"/><Relationship Id="rId16" Type="http://schemas.openxmlformats.org/officeDocument/2006/relationships/hyperlink" Target="https://drive.google.com/drive/folders/1uBCRgxcFI5DfS6Bi2pdIJtUXnFhkYPX-?usp=sharing" TargetMode="External"/><Relationship Id="rId19" Type="http://schemas.openxmlformats.org/officeDocument/2006/relationships/image" Target="../media/image25.png"/><Relationship Id="rId1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2.jpg"/><Relationship Id="rId9" Type="http://schemas.openxmlformats.org/officeDocument/2006/relationships/image" Target="../media/image50.jpg"/><Relationship Id="rId5" Type="http://schemas.openxmlformats.org/officeDocument/2006/relationships/image" Target="../media/image48.jpg"/><Relationship Id="rId6" Type="http://schemas.openxmlformats.org/officeDocument/2006/relationships/image" Target="../media/image47.jpg"/><Relationship Id="rId7" Type="http://schemas.openxmlformats.org/officeDocument/2006/relationships/image" Target="../media/image42.png"/><Relationship Id="rId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29.jpg"/><Relationship Id="rId9" Type="http://schemas.openxmlformats.org/officeDocument/2006/relationships/image" Target="../media/image35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34.png"/><Relationship Id="rId11" Type="http://schemas.openxmlformats.org/officeDocument/2006/relationships/image" Target="../media/image37.png"/><Relationship Id="rId10" Type="http://schemas.openxmlformats.org/officeDocument/2006/relationships/image" Target="../media/image36.jpg"/><Relationship Id="rId13" Type="http://schemas.openxmlformats.org/officeDocument/2006/relationships/image" Target="../media/image40.png"/><Relationship Id="rId12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1.jpg"/><Relationship Id="rId5" Type="http://schemas.openxmlformats.org/officeDocument/2006/relationships/image" Target="../media/image49.jpg"/><Relationship Id="rId6" Type="http://schemas.openxmlformats.org/officeDocument/2006/relationships/hyperlink" Target="mailto:arumugam@shakthiknitting.com" TargetMode="External"/><Relationship Id="rId7" Type="http://schemas.openxmlformats.org/officeDocument/2006/relationships/hyperlink" Target="https://drive.google.com/drive/folders/1uBCRgxcFI5DfS6Bi2pdIJtUXnFhkYPX-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FABRIC INSPECTION SYSTEM FOR                     TEXTILE INDUSTRY</a:t>
            </a:r>
            <a:endParaRPr/>
          </a:p>
        </p:txBody>
      </p:sp>
      <p:sp>
        <p:nvSpPr>
          <p:cNvPr id="99" name="Google Shape;99;p14"/>
          <p:cNvSpPr txBox="1"/>
          <p:nvPr>
            <p:ph type="ctrTitle"/>
          </p:nvPr>
        </p:nvSpPr>
        <p:spPr>
          <a:xfrm>
            <a:off x="331286" y="-741832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63033" y="1162341"/>
            <a:ext cx="59247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 –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SIH25118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 –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Innovation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Automatic Fabric Inspection System for Textile 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Industry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 –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Automation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 –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 - 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75056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-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FabSpector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www.sih.gov.in/img1/SIH-Logo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https://www.sih.gov.in/img1/SIH-Logo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11" name="Google Shape;111;p15"/>
          <p:cNvSpPr/>
          <p:nvPr/>
        </p:nvSpPr>
        <p:spPr>
          <a:xfrm>
            <a:off x="329773" y="124021"/>
            <a:ext cx="16716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FabSpector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1850871" y="-159474"/>
            <a:ext cx="799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AUTOMATIC FABRIC INSPECTION SYSTEM FOR                     TEXTILE INDUSTRY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7398025" y="1273075"/>
            <a:ext cx="4736700" cy="26628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7294225" y="4030525"/>
            <a:ext cx="4840200" cy="2229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940875" y="4028975"/>
            <a:ext cx="346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💡 Innovation and Uniqueness</a:t>
            </a:r>
            <a:endParaRPr sz="2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780200" y="1257775"/>
            <a:ext cx="391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✅ How it Addresses the Problem</a:t>
            </a:r>
            <a:endParaRPr sz="2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615875" y="1688575"/>
            <a:ext cx="4255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 hidden defects reducing manual errors.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in real time without delays in production.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defect is saved with images and details, helping industries analyze patterns and improve quality over time.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defective fabric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reaching customers, reducing losses, complaints, and rework costs.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added to many production lines without hiring extra manpower.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28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workers to focus on skilled tasks like 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control, maintenance, and process improvemen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00400" y="1248225"/>
            <a:ext cx="2975400" cy="4996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78975" y="1257775"/>
            <a:ext cx="272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📝 Proposed Solution</a:t>
            </a:r>
            <a:endParaRPr sz="2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75675" y="1787825"/>
            <a:ext cx="2844900" cy="68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70075" y="2726175"/>
            <a:ext cx="2844900" cy="80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75675" y="3783375"/>
            <a:ext cx="2781000" cy="103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235675" y="5166400"/>
            <a:ext cx="2724900" cy="94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-247325" y="1688575"/>
            <a:ext cx="3204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rained deep learning model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defects captured fabric images.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37875" y="2677813"/>
            <a:ext cx="292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sends defected data to a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monitoring, logging, and quality analysis.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10275" y="3820338"/>
            <a:ext cx="2975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trigger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control unit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  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the machine, marking the defective section for corrective action.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-247325" y="5166425"/>
            <a:ext cx="3303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rovides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alerts, defect images, and production statistics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supervisors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15"/>
          <p:cNvSpPr/>
          <p:nvPr/>
        </p:nvSpPr>
        <p:spPr>
          <a:xfrm flipH="1">
            <a:off x="1414075" y="2463775"/>
            <a:ext cx="254700" cy="253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1393975" y="3544363"/>
            <a:ext cx="335400" cy="253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410175" y="4817475"/>
            <a:ext cx="335400" cy="3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3172300" y="1015250"/>
            <a:ext cx="4125000" cy="199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3302525" y="1312375"/>
            <a:ext cx="3914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owadays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Industries are facing many challenges during manual fabric inspection system. Manual errors will occur during inspecting defects like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uneven dying, oil stain, yarn defect, large and tiny holes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etc.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3787613" y="1015250"/>
            <a:ext cx="2844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📌 Problem Statement</a:t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906" y="4795325"/>
            <a:ext cx="1781769" cy="132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3688" y="4795325"/>
            <a:ext cx="1671600" cy="13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3949313" y="6024925"/>
            <a:ext cx="100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HOLES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5810125" y="6017275"/>
            <a:ext cx="10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OIL STAINS 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8" name="Google Shape;138;p15" title="20250924_23258PMByGPSMapCamera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0553" y="3094013"/>
            <a:ext cx="1781775" cy="120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title="20250924_23412PMByGPSMapCamera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9178" y="3094002"/>
            <a:ext cx="1671598" cy="1253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3437245" y="4354338"/>
            <a:ext cx="372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MANUAL INSPECTION METHODS IN TEXTILE INDUSTRIES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7209625" y="4324275"/>
            <a:ext cx="48402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real-time edge detection with powerful cloud-based analysis, balancing speed and intelligence and 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directly control fabric rollers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stop at the defective portion.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reports and analysis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system can adapt to different  defect categories by retraining the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model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❖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the repetitive inspection validate critical defects, ensuring balance between automation and expertise.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❖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the system with existing available machines and Reducing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fabric waste and rework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4000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title"/>
          </p:nvPr>
        </p:nvSpPr>
        <p:spPr>
          <a:xfrm>
            <a:off x="609600" y="-3614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4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4200"/>
          </a:p>
        </p:txBody>
      </p: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https://www.sih.gov.in/img1/SIH-Logo.png"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1591" y="-12953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52" name="Google Shape;152;p16"/>
          <p:cNvSpPr/>
          <p:nvPr/>
        </p:nvSpPr>
        <p:spPr>
          <a:xfrm>
            <a:off x="143773" y="-4"/>
            <a:ext cx="16716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FabSpector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8539911" y="3306075"/>
            <a:ext cx="3450300" cy="304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025" lIns="79025" spcFirstLastPara="1" rIns="79025" wrap="square" tIns="79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37701" y="4375462"/>
            <a:ext cx="343434" cy="460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02787" y="5098537"/>
            <a:ext cx="343434" cy="460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70946" y="5098534"/>
            <a:ext cx="343434" cy="460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48203" y="4375462"/>
            <a:ext cx="343434" cy="460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7700" y="5098538"/>
            <a:ext cx="292224" cy="460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476649" y="4375462"/>
            <a:ext cx="343434" cy="46096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8754589" y="3815198"/>
            <a:ext cx="10515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8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HARDWA</a:t>
            </a:r>
            <a:r>
              <a:rPr lang="en-US" sz="1628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</a:t>
            </a:r>
            <a:r>
              <a:rPr lang="en-US" sz="1628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</a:t>
            </a:r>
            <a:endParaRPr sz="1628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0768852" y="3832010"/>
            <a:ext cx="979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9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SOFT</a:t>
            </a:r>
            <a:r>
              <a:rPr lang="en-US" sz="1609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WARE</a:t>
            </a:r>
            <a:endParaRPr sz="1609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0290994" y="4774271"/>
            <a:ext cx="4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PYTHON</a:t>
            </a:r>
            <a:endParaRPr sz="885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11358706" y="4746945"/>
            <a:ext cx="6315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TENSORFLOW</a:t>
            </a:r>
            <a:endParaRPr sz="785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1488743" y="5460590"/>
            <a:ext cx="40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5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NUMPY</a:t>
            </a:r>
            <a:endParaRPr sz="685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10282003" y="5497233"/>
            <a:ext cx="4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KEARAS</a:t>
            </a:r>
            <a:endParaRPr sz="885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10775026" y="5487393"/>
            <a:ext cx="55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5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MATPLOTLIB</a:t>
            </a:r>
            <a:endParaRPr sz="685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10784184" y="4758124"/>
            <a:ext cx="518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SEABORN</a:t>
            </a:r>
            <a:endParaRPr sz="785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9286412" y="3358539"/>
            <a:ext cx="213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TECHNOLOGY STACK</a:t>
            </a:r>
            <a:endParaRPr sz="176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9" name="Google Shape;169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12092" y="5701414"/>
            <a:ext cx="343434" cy="46096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10189587" y="6050089"/>
            <a:ext cx="631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SCIKIT LEARN</a:t>
            </a:r>
            <a:endParaRPr sz="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1" name="Google Shape;171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900410" y="5766105"/>
            <a:ext cx="343440" cy="396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10860197" y="6037973"/>
            <a:ext cx="63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OPEN CV</a:t>
            </a:r>
            <a:endParaRPr sz="885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3" name="Google Shape;173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530802" y="5735783"/>
            <a:ext cx="292217" cy="39221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11494759" y="6051600"/>
            <a:ext cx="556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550" lIns="73550" spcFirstLastPara="1" rIns="73550" wrap="square" tIns="73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PILLOW</a:t>
            </a:r>
            <a:endParaRPr sz="885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5" name="Google Shape;175;p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679047" y="4197585"/>
            <a:ext cx="678497" cy="7473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8782883" y="4833658"/>
            <a:ext cx="556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CAMERA</a:t>
            </a:r>
            <a:endParaRPr sz="9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7" name="Google Shape;177;p1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499326" y="4253033"/>
            <a:ext cx="631643" cy="63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9433331" y="4842967"/>
            <a:ext cx="840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RASPBERRY PI 5</a:t>
            </a:r>
            <a:endParaRPr sz="9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9" name="Google Shape;179;p16" title="Screenshot 2025-09-24 222158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965940" y="5098537"/>
            <a:ext cx="840149" cy="69189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8573001" y="5720269"/>
            <a:ext cx="16194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bts7960 motor driver and 12v dc motor </a:t>
            </a:r>
            <a:endParaRPr sz="9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95250" y="4191193"/>
            <a:ext cx="5110200" cy="1007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202925" y="4037875"/>
            <a:ext cx="5110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rototype survey, analysis,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and explanation video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/>
              </a:rPr>
              <a:t>https://drive.google.com/drive/folders/1uBCRgxcFI5DfS6Bi2pdIJtUXnFhkYPX-?usp=sharing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147250" y="5198425"/>
            <a:ext cx="8257800" cy="1143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143775" y="5143853"/>
            <a:ext cx="8257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Multi-model concept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fabric inspection on both edge and cloud: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⚡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defect detection on edge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MobileNetV3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Small light, fast model that quickly flag fabric defects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🎯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High-accuracy validation on cloud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EfficientNetB0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heavier model runs in the cloud/PC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🔄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Fallback for reliability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ShuffleNetV2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ultra-light model works smoothly when edge devices have limited power or resources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16" title="20250924_24436PMByGPSMapCamera.jpg"/>
          <p:cNvPicPr preferRelativeResize="0"/>
          <p:nvPr/>
        </p:nvPicPr>
        <p:blipFill rotWithShape="1">
          <a:blip r:embed="rId17">
            <a:alphaModFix/>
          </a:blip>
          <a:srcRect b="0" l="4094" r="10237" t="39514"/>
          <a:stretch/>
        </p:blipFill>
        <p:spPr>
          <a:xfrm>
            <a:off x="8607025" y="1409725"/>
            <a:ext cx="3273201" cy="179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5920071" y="1409722"/>
            <a:ext cx="1441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9850" lIns="59700" spcFirstLastPara="1" rIns="59700" wrap="square" tIns="29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collection &amp; Model Training</a:t>
            </a:r>
            <a:endParaRPr b="1" i="0" sz="104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16"/>
          <p:cNvPicPr preferRelativeResize="0"/>
          <p:nvPr/>
        </p:nvPicPr>
        <p:blipFill rotWithShape="1">
          <a:blip r:embed="rId18">
            <a:alphaModFix/>
          </a:blip>
          <a:srcRect b="0" l="52644" r="0" t="0"/>
          <a:stretch/>
        </p:blipFill>
        <p:spPr>
          <a:xfrm rot="-5400000">
            <a:off x="6039457" y="264393"/>
            <a:ext cx="517863" cy="774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/>
          <p:cNvPicPr preferRelativeResize="0"/>
          <p:nvPr/>
        </p:nvPicPr>
        <p:blipFill rotWithShape="1">
          <a:blip r:embed="rId19">
            <a:alphaModFix/>
          </a:blip>
          <a:srcRect b="0" l="59167" r="0" t="0"/>
          <a:stretch/>
        </p:blipFill>
        <p:spPr>
          <a:xfrm rot="-5400000">
            <a:off x="6038080" y="783633"/>
            <a:ext cx="527461" cy="781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/>
          <p:cNvPicPr preferRelativeResize="0"/>
          <p:nvPr/>
        </p:nvPicPr>
        <p:blipFill rotWithShape="1">
          <a:blip r:embed="rId19">
            <a:alphaModFix/>
          </a:blip>
          <a:srcRect b="0" l="2323" r="46488" t="0"/>
          <a:stretch/>
        </p:blipFill>
        <p:spPr>
          <a:xfrm rot="-5400000">
            <a:off x="6764249" y="817501"/>
            <a:ext cx="542402" cy="699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/>
          <p:cNvPicPr preferRelativeResize="0"/>
          <p:nvPr/>
        </p:nvPicPr>
        <p:blipFill rotWithShape="1">
          <a:blip r:embed="rId18">
            <a:alphaModFix/>
          </a:blip>
          <a:srcRect b="0" l="1247" r="43044" t="0"/>
          <a:stretch/>
        </p:blipFill>
        <p:spPr>
          <a:xfrm rot="-5400000">
            <a:off x="6777782" y="300196"/>
            <a:ext cx="515337" cy="699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US Webcam C3｜Streaming Kits｜ASUS USA" id="191" name="Google Shape;191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162911" y="1839278"/>
            <a:ext cx="919785" cy="91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/>
          <p:cNvPicPr preferRelativeResize="0"/>
          <p:nvPr/>
        </p:nvPicPr>
        <p:blipFill rotWithShape="1">
          <a:blip r:embed="rId21">
            <a:alphaModFix/>
          </a:blip>
          <a:srcRect b="0" l="0" r="0" t="9926"/>
          <a:stretch/>
        </p:blipFill>
        <p:spPr>
          <a:xfrm>
            <a:off x="4428876" y="1791625"/>
            <a:ext cx="1441500" cy="88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/>
          <p:nvPr/>
        </p:nvSpPr>
        <p:spPr>
          <a:xfrm>
            <a:off x="4486923" y="2631681"/>
            <a:ext cx="1404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50" lIns="54875" spcFirstLastPara="1" rIns="54875" wrap="square" tIns="274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Fabric feeding &amp; Motion control</a:t>
            </a:r>
            <a:endParaRPr b="1" i="0" sz="96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5920077" y="2688094"/>
            <a:ext cx="14415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3600" lIns="47225" spcFirstLastPara="1" rIns="47225" wrap="square" tIns="236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deployment to CAM module for real time interface</a:t>
            </a:r>
            <a:endParaRPr b="1" i="0" sz="82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897950" y="2994177"/>
            <a:ext cx="1164027" cy="7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/>
        </p:nvSpPr>
        <p:spPr>
          <a:xfrm>
            <a:off x="5982200" y="3724175"/>
            <a:ext cx="1164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75" lIns="38775" spcFirstLastPara="1" rIns="38775" wrap="square" tIns="193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time implementation for image capturing</a:t>
            </a:r>
            <a:endParaRPr b="1" i="0" sz="878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c Motor Driver High-power MOSFET FET Trigger Switch Motor Drive Module PWM  4-60V Mosfet Module" id="197" name="Google Shape;197;p16"/>
          <p:cNvPicPr preferRelativeResize="0"/>
          <p:nvPr/>
        </p:nvPicPr>
        <p:blipFill rotWithShape="1">
          <a:blip r:embed="rId23">
            <a:alphaModFix/>
          </a:blip>
          <a:srcRect b="8327" l="0" r="0" t="6609"/>
          <a:stretch/>
        </p:blipFill>
        <p:spPr>
          <a:xfrm>
            <a:off x="7566650" y="2927775"/>
            <a:ext cx="919800" cy="8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7366425" y="3707352"/>
            <a:ext cx="10515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1200" lIns="42475" spcFirstLastPara="1" rIns="42475" wrap="square" tIns="21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Motion control using motor drive for controlled algorithm</a:t>
            </a:r>
            <a:endParaRPr b="1" i="0" sz="74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5439550" y="5004500"/>
            <a:ext cx="2978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350" lIns="30775" spcFirstLastPara="1" rIns="30775" wrap="square" tIns="153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of detected image in cloud using IOT integration</a:t>
            </a:r>
            <a:endParaRPr b="1" i="0" sz="938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oT &amp; Cloud Computing integration. | Download Scientific Diagram" id="200" name="Google Shape;200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024022" y="4316550"/>
            <a:ext cx="1051501" cy="6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/>
          <p:nvPr/>
        </p:nvSpPr>
        <p:spPr>
          <a:xfrm>
            <a:off x="5119025" y="2957844"/>
            <a:ext cx="194100" cy="2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 cap="flat" cmpd="sng" w="70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975" lIns="67975" spcFirstLastPara="1" rIns="67975" wrap="square" tIns="6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6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533154" y="3216507"/>
            <a:ext cx="1223148" cy="6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 txBox="1"/>
          <p:nvPr/>
        </p:nvSpPr>
        <p:spPr>
          <a:xfrm>
            <a:off x="4725353" y="3917471"/>
            <a:ext cx="995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75" lIns="38775" spcFirstLastPara="1" rIns="38775" wrap="square" tIns="193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Detection using CNN </a:t>
            </a:r>
            <a:endParaRPr b="1" i="0" sz="678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6525676" y="1734027"/>
            <a:ext cx="194100" cy="2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 cap="flat" cmpd="sng" w="70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975" lIns="67975" spcFirstLastPara="1" rIns="67975" wrap="square" tIns="6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 rot="5400000">
            <a:off x="5956521" y="2187376"/>
            <a:ext cx="171900" cy="27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 cap="flat" cmpd="sng" w="70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975" lIns="67975" spcFirstLastPara="1" rIns="67975" wrap="square" tIns="6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 rot="-5400000">
            <a:off x="5694470" y="3441080"/>
            <a:ext cx="171900" cy="27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 cap="flat" cmpd="sng" w="70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975" lIns="67975" spcFirstLastPara="1" rIns="67975" wrap="square" tIns="6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440372" y="4118185"/>
            <a:ext cx="194100" cy="2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 cap="flat" cmpd="sng" w="70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975" lIns="67975" spcFirstLastPara="1" rIns="67975" wrap="square" tIns="6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 rot="-5400000">
            <a:off x="7159287" y="3306811"/>
            <a:ext cx="171900" cy="27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 cap="flat" cmpd="sng" w="70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975" lIns="67975" spcFirstLastPara="1" rIns="67975" wrap="square" tIns="6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6" title="Screenshot 2025-09-25 141943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2433475" y="2675400"/>
            <a:ext cx="2291875" cy="13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6" title="Screenshot 2025-09-26 095801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1381975" y="2692825"/>
            <a:ext cx="1051500" cy="13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6" title="Screenshot 2025-09-26 095745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147250" y="2698550"/>
            <a:ext cx="1223150" cy="13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/>
          <p:nvPr/>
        </p:nvSpPr>
        <p:spPr>
          <a:xfrm>
            <a:off x="3882100" y="848775"/>
            <a:ext cx="1830600" cy="63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WORKFLOW OF PROPOSED PROTOTYPE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3" name="Google Shape;213;p16" title="ThiruMurugan.jpg"/>
          <p:cNvPicPr preferRelativeResize="0"/>
          <p:nvPr/>
        </p:nvPicPr>
        <p:blipFill rotWithShape="1">
          <a:blip r:embed="rId29">
            <a:alphaModFix/>
          </a:blip>
          <a:srcRect b="44460" l="11658" r="6467" t="20121"/>
          <a:stretch/>
        </p:blipFill>
        <p:spPr>
          <a:xfrm>
            <a:off x="100825" y="1305325"/>
            <a:ext cx="3573898" cy="12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/>
        </p:nvSpPr>
        <p:spPr>
          <a:xfrm>
            <a:off x="-69895" y="765207"/>
            <a:ext cx="367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IEEE YESIST12 2025 WINNER UNDER FET100 TRACK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“AUTOMATIC FABRIC INSPECTION SYSTEM FOR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TEXTILE INDUSTRY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 flipH="1">
            <a:off x="8233063" y="1057146"/>
            <a:ext cx="40182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VISIT IN SHAKTHI KNITTING COMPANY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>
            <p:ph type="title"/>
          </p:nvPr>
        </p:nvSpPr>
        <p:spPr>
          <a:xfrm>
            <a:off x="609600" y="-27693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17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25" name="Google Shape;225;p17"/>
          <p:cNvSpPr/>
          <p:nvPr/>
        </p:nvSpPr>
        <p:spPr>
          <a:xfrm>
            <a:off x="79950" y="10250"/>
            <a:ext cx="1830600" cy="641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FabSpector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226" name="Google Shape;2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75" y="57099"/>
            <a:ext cx="2209100" cy="81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/>
          <p:nvPr/>
        </p:nvSpPr>
        <p:spPr>
          <a:xfrm>
            <a:off x="95550" y="661400"/>
            <a:ext cx="3230400" cy="337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95575" y="891025"/>
            <a:ext cx="3230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Highly feasible using affordable, off-the-shelf hardware (Raspberry Pi, cameras) and mature, open-source software (OpenCV, TensorFlow).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Easily integrates into existing factory workflows with a simple user dashboard, requiring minimal staff training and maintenance.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Offers a strong and rapid Return on Investment (ROI) due to low initial costs and significant savings from reduced labor, increased speed, and less material waste.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950111" y="598952"/>
            <a:ext cx="254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FEASIBILITY</a:t>
            </a:r>
            <a:endParaRPr b="1"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30" name="Google Shape;230;p17" title="20250924_23316PMByGPSMapCamera.jpg"/>
          <p:cNvPicPr preferRelativeResize="0"/>
          <p:nvPr/>
        </p:nvPicPr>
        <p:blipFill rotWithShape="1">
          <a:blip r:embed="rId4">
            <a:alphaModFix/>
          </a:blip>
          <a:srcRect b="0" l="10740" r="9755" t="18791"/>
          <a:stretch/>
        </p:blipFill>
        <p:spPr>
          <a:xfrm>
            <a:off x="10483155" y="2257350"/>
            <a:ext cx="1524449" cy="1298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 title="20250924_23745PMByGPSMapCamer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04805" y="4968550"/>
            <a:ext cx="1524449" cy="1411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 title="20250924_23427PMByGPSMapCamera.jpg"/>
          <p:cNvPicPr preferRelativeResize="0"/>
          <p:nvPr/>
        </p:nvPicPr>
        <p:blipFill rotWithShape="1">
          <a:blip r:embed="rId6">
            <a:alphaModFix/>
          </a:blip>
          <a:srcRect b="0" l="7902" r="0" t="19008"/>
          <a:stretch/>
        </p:blipFill>
        <p:spPr>
          <a:xfrm>
            <a:off x="10519725" y="3555725"/>
            <a:ext cx="1524449" cy="141122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>
            <p:ph idx="1" type="body"/>
          </p:nvPr>
        </p:nvSpPr>
        <p:spPr>
          <a:xfrm>
            <a:off x="3630848" y="698112"/>
            <a:ext cx="2441100" cy="301200"/>
          </a:xfrm>
          <a:prstGeom prst="rect">
            <a:avLst/>
          </a:prstGeom>
        </p:spPr>
        <p:txBody>
          <a:bodyPr anchorCtr="0" anchor="b" bIns="78450" lIns="78450" spcFirstLastPara="1" rIns="78450" wrap="square" tIns="78450">
            <a:noAutofit/>
          </a:bodyPr>
          <a:lstStyle/>
          <a:p>
            <a:pPr indent="0" lvl="0" marL="0" rtl="0" algn="l">
              <a:spcBef>
                <a:spcPts val="412"/>
              </a:spcBef>
              <a:spcAft>
                <a:spcPts val="0"/>
              </a:spcAft>
              <a:buNone/>
            </a:pPr>
            <a:r>
              <a:rPr lang="en-US" sz="1287"/>
              <a:t>POTENTIAL CHALLENGES</a:t>
            </a:r>
            <a:endParaRPr sz="1287"/>
          </a:p>
        </p:txBody>
      </p:sp>
      <p:sp>
        <p:nvSpPr>
          <p:cNvPr id="234" name="Google Shape;234;p17"/>
          <p:cNvSpPr txBox="1"/>
          <p:nvPr>
            <p:ph idx="3" type="body"/>
          </p:nvPr>
        </p:nvSpPr>
        <p:spPr>
          <a:xfrm>
            <a:off x="6301492" y="399997"/>
            <a:ext cx="1058400" cy="528900"/>
          </a:xfrm>
          <a:prstGeom prst="rect">
            <a:avLst/>
          </a:prstGeom>
        </p:spPr>
        <p:txBody>
          <a:bodyPr anchorCtr="0" anchor="b" bIns="78450" lIns="78450" spcFirstLastPara="1" rIns="78450" wrap="square" tIns="78450">
            <a:noAutofit/>
          </a:bodyPr>
          <a:lstStyle/>
          <a:p>
            <a:pPr indent="0" lvl="0" marL="0" rtl="0" algn="l">
              <a:spcBef>
                <a:spcPts val="412"/>
              </a:spcBef>
              <a:spcAft>
                <a:spcPts val="0"/>
              </a:spcAft>
              <a:buNone/>
            </a:pPr>
            <a:r>
              <a:rPr lang="en-US" sz="1287"/>
              <a:t>STRATEGIES</a:t>
            </a:r>
            <a:endParaRPr sz="1287"/>
          </a:p>
        </p:txBody>
      </p:sp>
      <p:pic>
        <p:nvPicPr>
          <p:cNvPr id="235" name="Google Shape;235;p17" title="Screenshot 2025-09-25 113710.png"/>
          <p:cNvPicPr preferRelativeResize="0"/>
          <p:nvPr/>
        </p:nvPicPr>
        <p:blipFill rotWithShape="1">
          <a:blip r:embed="rId7">
            <a:alphaModFix/>
          </a:blip>
          <a:srcRect b="6271" l="8357" r="0" t="10213"/>
          <a:stretch/>
        </p:blipFill>
        <p:spPr>
          <a:xfrm>
            <a:off x="7961393" y="4036450"/>
            <a:ext cx="2531787" cy="23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7" title="Screenshot 2025-09-25 11485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47980" y="2257350"/>
            <a:ext cx="2531787" cy="177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/>
          <p:cNvPicPr preferRelativeResize="0"/>
          <p:nvPr/>
        </p:nvPicPr>
        <p:blipFill rotWithShape="1">
          <a:blip r:embed="rId9">
            <a:alphaModFix/>
          </a:blip>
          <a:srcRect b="0" l="0" r="13103" t="40408"/>
          <a:stretch/>
        </p:blipFill>
        <p:spPr>
          <a:xfrm>
            <a:off x="7947975" y="932775"/>
            <a:ext cx="4068076" cy="12983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17"/>
          <p:cNvGraphicFramePr/>
          <p:nvPr/>
        </p:nvGraphicFramePr>
        <p:xfrm>
          <a:off x="79953" y="4406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{6758F1C2-1D7F-44F6-963A-1074596642E1}</a:tableStyleId>
              </a:tblPr>
              <a:tblGrid>
                <a:gridCol w="2644300"/>
                <a:gridCol w="3519525"/>
                <a:gridCol w="1670200"/>
              </a:tblGrid>
              <a:tr h="55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rgbClr val="292929"/>
                          </a:solidFill>
                          <a:highlight>
                            <a:srgbClr val="FAF5E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Addressable Market (TAM)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 fabric production, labor costs, cost of quality failures.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$45 - $50 Billion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4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rgbClr val="292929"/>
                          </a:solidFill>
                          <a:highlight>
                            <a:srgbClr val="FAF5E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Serviceable Addressable Market (SAM)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Go-to-market strategy, product specifications, target customer.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~$5.88 Billion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0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rgbClr val="292929"/>
                          </a:solidFill>
                          <a:highlight>
                            <a:srgbClr val="FAF5E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Serviceable Obtainable Market (SOM)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Competition, sales execution, product USP, pricing.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~$117.6 Million (5-Year Goal)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9" name="Google Shape;239;p17"/>
          <p:cNvSpPr txBox="1"/>
          <p:nvPr/>
        </p:nvSpPr>
        <p:spPr>
          <a:xfrm>
            <a:off x="2292225" y="3991950"/>
            <a:ext cx="339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MARKETING </a:t>
            </a:r>
            <a:r>
              <a:rPr b="1" lang="en-US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STRATEGIES</a:t>
            </a:r>
            <a:endParaRPr b="1"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3373850" y="909200"/>
            <a:ext cx="2209200" cy="318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1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59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3162192" y="1073911"/>
            <a:ext cx="2340300" cy="4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6971" lvl="0" marL="392278" rtl="0" algn="just">
              <a:lnSpc>
                <a:spcPct val="150000"/>
              </a:lnSpc>
              <a:spcBef>
                <a:spcPts val="1030"/>
              </a:spcBef>
              <a:spcAft>
                <a:spcPts val="0"/>
              </a:spcAft>
              <a:buClr>
                <a:schemeClr val="dk1"/>
              </a:buClr>
              <a:buSzPts val="958"/>
              <a:buFont typeface="Times New Roman"/>
              <a:buChar char="❖"/>
            </a:pPr>
            <a:r>
              <a:rPr b="1"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 Diverse, Labeled Dataset:</a:t>
            </a:r>
            <a:r>
              <a:rPr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making robust AI model training extremely difficult.</a:t>
            </a:r>
            <a:endParaRPr sz="9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971" lvl="0" marL="392278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8"/>
              <a:buFont typeface="Times New Roman"/>
              <a:buChar char="❖"/>
            </a:pPr>
            <a:r>
              <a:rPr b="1"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Interference &amp; Variability:</a:t>
            </a:r>
            <a:r>
              <a:rPr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Fluctuating ambient light, dust, and high-speed fabric vibrations can severely degrade camera image quality, leading to inaccurate defect detection.</a:t>
            </a:r>
            <a:endParaRPr sz="9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971" lvl="0" marL="392278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8"/>
              <a:buFont typeface="Times New Roman"/>
              <a:buChar char="❖"/>
            </a:pPr>
            <a:r>
              <a:rPr b="1"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 of Fabrics and Defects:</a:t>
            </a:r>
            <a:r>
              <a:rPr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may fail to identify subtle defects on complex patterns, dark fabrics, or textured surfaces.</a:t>
            </a:r>
            <a:endParaRPr sz="9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59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5650525" y="909226"/>
            <a:ext cx="2209200" cy="337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5379029" y="999300"/>
            <a:ext cx="2531700" cy="3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6971" lvl="0" marL="392278" rtl="0" algn="l">
              <a:lnSpc>
                <a:spcPct val="150000"/>
              </a:lnSpc>
              <a:spcBef>
                <a:spcPts val="1030"/>
              </a:spcBef>
              <a:spcAft>
                <a:spcPts val="0"/>
              </a:spcAft>
              <a:buClr>
                <a:schemeClr val="dk1"/>
              </a:buClr>
              <a:buSzPts val="958"/>
              <a:buFont typeface="Times New Roman"/>
              <a:buChar char="❖"/>
            </a:pPr>
            <a:r>
              <a:rPr b="1"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Proprietary Dataset:</a:t>
            </a:r>
            <a:r>
              <a:rPr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data-sharing partnerships with local mills creating an unmatched, proprietary training asset. </a:t>
            </a:r>
            <a:endParaRPr sz="9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971" lvl="0" marL="39227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8"/>
              <a:buFont typeface="Times New Roman"/>
              <a:buChar char="❖"/>
            </a:pPr>
            <a:r>
              <a:rPr b="1"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 a Controlled Inspection Module:</a:t>
            </a:r>
            <a:r>
              <a:rPr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physical enclosure for the camera  with integrated  lighting eliminates external light</a:t>
            </a:r>
            <a:endParaRPr sz="9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971" lvl="0" marL="39227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8"/>
              <a:buFont typeface="Times New Roman"/>
              <a:buChar char="❖"/>
            </a:pPr>
            <a:r>
              <a:rPr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AI Approach:</a:t>
            </a:r>
            <a:r>
              <a:rPr lang="en-US" sz="9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deep-learning model to classify known defects, while a secondary anomaly detector (trained on flawless fabric) flags new or unseen imperfections, even in complex patterns.</a:t>
            </a:r>
            <a:endParaRPr sz="2159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03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>
            <p:ph type="title"/>
          </p:nvPr>
        </p:nvSpPr>
        <p:spPr>
          <a:xfrm>
            <a:off x="3449699" y="218575"/>
            <a:ext cx="558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AND BENEFITS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205750" y="1178900"/>
            <a:ext cx="5890260" cy="4977208"/>
          </a:xfrm>
          <a:custGeom>
            <a:rect b="b" l="l" r="r" t="t"/>
            <a:pathLst>
              <a:path extrusionOk="0" h="5225415" w="5890260">
                <a:moveTo>
                  <a:pt x="0" y="0"/>
                </a:moveTo>
                <a:lnTo>
                  <a:pt x="5889899" y="0"/>
                </a:lnTo>
                <a:lnTo>
                  <a:pt x="5889899" y="5225399"/>
                </a:lnTo>
                <a:lnTo>
                  <a:pt x="0" y="52253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855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50" name="Google Shape;250;p18"/>
          <p:cNvGrpSpPr/>
          <p:nvPr/>
        </p:nvGrpSpPr>
        <p:grpSpPr>
          <a:xfrm>
            <a:off x="6285266" y="11700"/>
            <a:ext cx="5765165" cy="6168114"/>
            <a:chOff x="6285250" y="11698"/>
            <a:chExt cx="5765165" cy="6632381"/>
          </a:xfrm>
        </p:grpSpPr>
        <p:pic>
          <p:nvPicPr>
            <p:cNvPr id="251" name="Google Shape;25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87875" y="11698"/>
              <a:ext cx="2235699" cy="1149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18"/>
            <p:cNvSpPr/>
            <p:nvPr/>
          </p:nvSpPr>
          <p:spPr>
            <a:xfrm>
              <a:off x="6285250" y="1183520"/>
              <a:ext cx="5765165" cy="5460559"/>
            </a:xfrm>
            <a:custGeom>
              <a:rect b="b" l="l" r="r" t="t"/>
              <a:pathLst>
                <a:path extrusionOk="0" h="5225415" w="5765165">
                  <a:moveTo>
                    <a:pt x="0" y="0"/>
                  </a:moveTo>
                  <a:lnTo>
                    <a:pt x="5765099" y="0"/>
                  </a:lnTo>
                  <a:lnTo>
                    <a:pt x="5765099" y="5225399"/>
                  </a:lnTo>
                  <a:lnTo>
                    <a:pt x="0" y="5225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5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3" name="Google Shape;253;p18"/>
          <p:cNvSpPr/>
          <p:nvPr/>
        </p:nvSpPr>
        <p:spPr>
          <a:xfrm>
            <a:off x="307374" y="120225"/>
            <a:ext cx="2247265" cy="807719"/>
          </a:xfrm>
          <a:custGeom>
            <a:rect b="b" l="l" r="r" t="t"/>
            <a:pathLst>
              <a:path extrusionOk="0" h="807719" w="2247265">
                <a:moveTo>
                  <a:pt x="0" y="403649"/>
                </a:moveTo>
                <a:lnTo>
                  <a:pt x="2050" y="379060"/>
                </a:lnTo>
                <a:lnTo>
                  <a:pt x="8122" y="354861"/>
                </a:lnTo>
                <a:lnTo>
                  <a:pt x="31862" y="307799"/>
                </a:lnTo>
                <a:lnTo>
                  <a:pt x="70279" y="262803"/>
                </a:lnTo>
                <a:lnTo>
                  <a:pt x="122434" y="220210"/>
                </a:lnTo>
                <a:lnTo>
                  <a:pt x="187387" y="180357"/>
                </a:lnTo>
                <a:lnTo>
                  <a:pt x="224369" y="161564"/>
                </a:lnTo>
                <a:lnTo>
                  <a:pt x="264197" y="143583"/>
                </a:lnTo>
                <a:lnTo>
                  <a:pt x="306755" y="126456"/>
                </a:lnTo>
                <a:lnTo>
                  <a:pt x="351925" y="110225"/>
                </a:lnTo>
                <a:lnTo>
                  <a:pt x="399589" y="94933"/>
                </a:lnTo>
                <a:lnTo>
                  <a:pt x="449630" y="80621"/>
                </a:lnTo>
                <a:lnTo>
                  <a:pt x="501931" y="67333"/>
                </a:lnTo>
                <a:lnTo>
                  <a:pt x="556373" y="55110"/>
                </a:lnTo>
                <a:lnTo>
                  <a:pt x="612840" y="43994"/>
                </a:lnTo>
                <a:lnTo>
                  <a:pt x="671213" y="34027"/>
                </a:lnTo>
                <a:lnTo>
                  <a:pt x="731376" y="25253"/>
                </a:lnTo>
                <a:lnTo>
                  <a:pt x="793211" y="17712"/>
                </a:lnTo>
                <a:lnTo>
                  <a:pt x="856600" y="11448"/>
                </a:lnTo>
                <a:lnTo>
                  <a:pt x="921426" y="6503"/>
                </a:lnTo>
                <a:lnTo>
                  <a:pt x="987571" y="2918"/>
                </a:lnTo>
                <a:lnTo>
                  <a:pt x="1054918" y="736"/>
                </a:lnTo>
                <a:lnTo>
                  <a:pt x="1123349" y="0"/>
                </a:lnTo>
                <a:lnTo>
                  <a:pt x="1191781" y="736"/>
                </a:lnTo>
                <a:lnTo>
                  <a:pt x="1259128" y="2918"/>
                </a:lnTo>
                <a:lnTo>
                  <a:pt x="1325273" y="6503"/>
                </a:lnTo>
                <a:lnTo>
                  <a:pt x="1390099" y="11448"/>
                </a:lnTo>
                <a:lnTo>
                  <a:pt x="1453488" y="17712"/>
                </a:lnTo>
                <a:lnTo>
                  <a:pt x="1515323" y="25253"/>
                </a:lnTo>
                <a:lnTo>
                  <a:pt x="1575486" y="34027"/>
                </a:lnTo>
                <a:lnTo>
                  <a:pt x="1633859" y="43994"/>
                </a:lnTo>
                <a:lnTo>
                  <a:pt x="1690326" y="55110"/>
                </a:lnTo>
                <a:lnTo>
                  <a:pt x="1744768" y="67333"/>
                </a:lnTo>
                <a:lnTo>
                  <a:pt x="1797068" y="80621"/>
                </a:lnTo>
                <a:lnTo>
                  <a:pt x="1847110" y="94933"/>
                </a:lnTo>
                <a:lnTo>
                  <a:pt x="1894774" y="110225"/>
                </a:lnTo>
                <a:lnTo>
                  <a:pt x="1939944" y="126456"/>
                </a:lnTo>
                <a:lnTo>
                  <a:pt x="1982502" y="143583"/>
                </a:lnTo>
                <a:lnTo>
                  <a:pt x="2022330" y="161564"/>
                </a:lnTo>
                <a:lnTo>
                  <a:pt x="2059312" y="180357"/>
                </a:lnTo>
                <a:lnTo>
                  <a:pt x="2093329" y="199920"/>
                </a:lnTo>
                <a:lnTo>
                  <a:pt x="2152001" y="241185"/>
                </a:lnTo>
                <a:lnTo>
                  <a:pt x="2197405" y="285022"/>
                </a:lnTo>
                <a:lnTo>
                  <a:pt x="2228601" y="331093"/>
                </a:lnTo>
                <a:lnTo>
                  <a:pt x="2244649" y="379060"/>
                </a:lnTo>
                <a:lnTo>
                  <a:pt x="2246699" y="403649"/>
                </a:lnTo>
                <a:lnTo>
                  <a:pt x="2238577" y="452438"/>
                </a:lnTo>
                <a:lnTo>
                  <a:pt x="2214837" y="499500"/>
                </a:lnTo>
                <a:lnTo>
                  <a:pt x="2176420" y="544496"/>
                </a:lnTo>
                <a:lnTo>
                  <a:pt x="2124265" y="587089"/>
                </a:lnTo>
                <a:lnTo>
                  <a:pt x="2059312" y="626942"/>
                </a:lnTo>
                <a:lnTo>
                  <a:pt x="2022330" y="645735"/>
                </a:lnTo>
                <a:lnTo>
                  <a:pt x="1982502" y="663716"/>
                </a:lnTo>
                <a:lnTo>
                  <a:pt x="1939944" y="680843"/>
                </a:lnTo>
                <a:lnTo>
                  <a:pt x="1894774" y="697074"/>
                </a:lnTo>
                <a:lnTo>
                  <a:pt x="1847110" y="712366"/>
                </a:lnTo>
                <a:lnTo>
                  <a:pt x="1797068" y="726678"/>
                </a:lnTo>
                <a:lnTo>
                  <a:pt x="1744768" y="739966"/>
                </a:lnTo>
                <a:lnTo>
                  <a:pt x="1690326" y="752189"/>
                </a:lnTo>
                <a:lnTo>
                  <a:pt x="1633859" y="763305"/>
                </a:lnTo>
                <a:lnTo>
                  <a:pt x="1575486" y="773272"/>
                </a:lnTo>
                <a:lnTo>
                  <a:pt x="1515323" y="782046"/>
                </a:lnTo>
                <a:lnTo>
                  <a:pt x="1453488" y="789587"/>
                </a:lnTo>
                <a:lnTo>
                  <a:pt x="1390099" y="795851"/>
                </a:lnTo>
                <a:lnTo>
                  <a:pt x="1325273" y="800796"/>
                </a:lnTo>
                <a:lnTo>
                  <a:pt x="1259128" y="804381"/>
                </a:lnTo>
                <a:lnTo>
                  <a:pt x="1191781" y="806563"/>
                </a:lnTo>
                <a:lnTo>
                  <a:pt x="1123349" y="807299"/>
                </a:lnTo>
                <a:lnTo>
                  <a:pt x="1054918" y="806563"/>
                </a:lnTo>
                <a:lnTo>
                  <a:pt x="987571" y="804381"/>
                </a:lnTo>
                <a:lnTo>
                  <a:pt x="921426" y="800796"/>
                </a:lnTo>
                <a:lnTo>
                  <a:pt x="856600" y="795851"/>
                </a:lnTo>
                <a:lnTo>
                  <a:pt x="793211" y="789587"/>
                </a:lnTo>
                <a:lnTo>
                  <a:pt x="731376" y="782046"/>
                </a:lnTo>
                <a:lnTo>
                  <a:pt x="671213" y="773272"/>
                </a:lnTo>
                <a:lnTo>
                  <a:pt x="612840" y="763305"/>
                </a:lnTo>
                <a:lnTo>
                  <a:pt x="556373" y="752189"/>
                </a:lnTo>
                <a:lnTo>
                  <a:pt x="501931" y="739966"/>
                </a:lnTo>
                <a:lnTo>
                  <a:pt x="449630" y="726678"/>
                </a:lnTo>
                <a:lnTo>
                  <a:pt x="399589" y="712366"/>
                </a:lnTo>
                <a:lnTo>
                  <a:pt x="351925" y="697074"/>
                </a:lnTo>
                <a:lnTo>
                  <a:pt x="306755" y="680843"/>
                </a:lnTo>
                <a:lnTo>
                  <a:pt x="264197" y="663716"/>
                </a:lnTo>
                <a:lnTo>
                  <a:pt x="224369" y="645735"/>
                </a:lnTo>
                <a:lnTo>
                  <a:pt x="187387" y="626942"/>
                </a:lnTo>
                <a:lnTo>
                  <a:pt x="153370" y="607379"/>
                </a:lnTo>
                <a:lnTo>
                  <a:pt x="94698" y="566114"/>
                </a:lnTo>
                <a:lnTo>
                  <a:pt x="49294" y="522277"/>
                </a:lnTo>
                <a:lnTo>
                  <a:pt x="18098" y="476206"/>
                </a:lnTo>
                <a:lnTo>
                  <a:pt x="2050" y="428239"/>
                </a:lnTo>
                <a:lnTo>
                  <a:pt x="0" y="403649"/>
                </a:lnTo>
                <a:close/>
              </a:path>
            </a:pathLst>
          </a:custGeom>
          <a:noFill/>
          <a:ln cap="flat" cmpd="sng" w="25375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4" name="Google Shape;254;p18"/>
          <p:cNvSpPr txBox="1"/>
          <p:nvPr/>
        </p:nvSpPr>
        <p:spPr>
          <a:xfrm>
            <a:off x="825749" y="374225"/>
            <a:ext cx="1384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FabSpector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428025" y="1295347"/>
            <a:ext cx="1157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378312" y="1774698"/>
            <a:ext cx="4915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940" lvl="0" marL="421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pots even the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smallest fabric flaw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s—defects that might easily be missed by the human eye.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298664" y="2475870"/>
            <a:ext cx="203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MS PGothic"/>
                <a:ea typeface="MS PGothic"/>
                <a:cs typeface="MS PGothic"/>
                <a:sym typeface="MS PGothic"/>
              </a:rPr>
              <a:t>❖</a:t>
            </a:r>
            <a:endParaRPr sz="1400">
              <a:latin typeface="MS PGothic"/>
              <a:ea typeface="MS PGothic"/>
              <a:cs typeface="MS PGothic"/>
              <a:sym typeface="MS PGothic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753955" y="2433330"/>
            <a:ext cx="4589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Reliable Consistency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doesn't tire or lose focus, ensuring each inspection remains just as thorough as the one before.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391114" y="3130598"/>
            <a:ext cx="48996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marR="5080" rtl="0" algn="just"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Saves Tim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which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take hours to do manually now gets done in minutes, keeping things running smoothly.</a:t>
            </a:r>
            <a:endParaRPr/>
          </a:p>
          <a:p>
            <a:pPr indent="0" lvl="0" marL="12700" marR="508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marR="5080" rtl="0" algn="just">
              <a:spcBef>
                <a:spcPts val="10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Boosts Productivity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by more efficient inspections, your production line stays on track.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394921" y="4373701"/>
            <a:ext cx="4875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Cuts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Costs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reduced waste, fewer mistakes, and lower labor requirements lead to significant savings.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393130" y="4817390"/>
            <a:ext cx="48792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marR="5080" rtl="0" algn="just"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Better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uality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ontrol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providing more defect-free fabric reaches customers, enhancing the overall product quality.</a:t>
            </a:r>
            <a:endParaRPr/>
          </a:p>
          <a:p>
            <a:pPr indent="0" lvl="0" marL="12700" marR="508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marR="5080" rtl="0" algn="just">
              <a:spcBef>
                <a:spcPts val="10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Competitive Edge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by adhering to global standards and consistently delivering high quality, textile companies can build trust and stay ahead in the market.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6432150" y="1295346"/>
            <a:ext cx="1188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6479775" y="1689013"/>
            <a:ext cx="44343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Real-Time Quality Checks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Problems are addressed before they worsen because flaws are identified immediately during production.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6499521" y="2525763"/>
            <a:ext cx="44337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marR="5080" rtl="0" algn="just"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Efficient Operations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provides entire process is more cost-effective when expenses are reduced and resources are used more wisely. </a:t>
            </a:r>
            <a:endParaRPr/>
          </a:p>
          <a:p>
            <a:pPr indent="0" lvl="0" marL="12700" marR="508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marR="5080" rtl="0" algn="just">
              <a:spcBef>
                <a:spcPts val="10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Faster Output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Inspection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increases production rather than slows it down.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6499521" y="4010493"/>
            <a:ext cx="44310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Increased Customer Confidence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 r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eputation and loyalty are fostered by consistent quality.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6488030" y="4572137"/>
            <a:ext cx="44259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 Encourages Smart Manufacturing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assists sectors in moving toward automation and workflows that are prepared for the future.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6476599" y="5408887"/>
            <a:ext cx="44292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S PGothic"/>
              <a:buChar char="❖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Decreased Human Errors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lessens the possibility of errors and weariness that accompany manual inspection.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8" name="Google Shape;268;p18"/>
          <p:cNvGrpSpPr/>
          <p:nvPr/>
        </p:nvGrpSpPr>
        <p:grpSpPr>
          <a:xfrm>
            <a:off x="5220900" y="1635225"/>
            <a:ext cx="875099" cy="4372341"/>
            <a:chOff x="5287550" y="1638150"/>
            <a:chExt cx="875099" cy="4372341"/>
          </a:xfrm>
        </p:grpSpPr>
        <p:pic>
          <p:nvPicPr>
            <p:cNvPr id="269" name="Google Shape;269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10375" y="2595250"/>
              <a:ext cx="752274" cy="7209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10375" y="3481024"/>
              <a:ext cx="622124" cy="88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79350" y="1638150"/>
              <a:ext cx="752274" cy="7922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16087" y="4528050"/>
              <a:ext cx="678799" cy="639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87550" y="5329849"/>
              <a:ext cx="867775" cy="6806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18"/>
          <p:cNvGrpSpPr/>
          <p:nvPr/>
        </p:nvGrpSpPr>
        <p:grpSpPr>
          <a:xfrm>
            <a:off x="10950999" y="1591975"/>
            <a:ext cx="1053424" cy="4458861"/>
            <a:chOff x="10950999" y="1591975"/>
            <a:chExt cx="1053424" cy="4458861"/>
          </a:xfrm>
        </p:grpSpPr>
        <p:pic>
          <p:nvPicPr>
            <p:cNvPr id="275" name="Google Shape;275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1002825" y="1591975"/>
              <a:ext cx="1001595" cy="88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164674" y="2809583"/>
              <a:ext cx="622124" cy="608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0950999" y="3562875"/>
              <a:ext cx="1053424" cy="720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976912" y="4353262"/>
              <a:ext cx="1001599" cy="816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1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1069737" y="5289512"/>
              <a:ext cx="867774" cy="761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18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Productivity Boost: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Keeps the production line moving smoothly without delays.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0" y="6191537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 txBox="1"/>
          <p:nvPr>
            <p:ph idx="12" type="sldNum"/>
          </p:nvPr>
        </p:nvSpPr>
        <p:spPr>
          <a:xfrm>
            <a:off x="8737600" y="619312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3" name="Google Shape;283;p18"/>
          <p:cNvSpPr txBox="1"/>
          <p:nvPr>
            <p:ph idx="11" type="ftr"/>
          </p:nvPr>
        </p:nvSpPr>
        <p:spPr>
          <a:xfrm>
            <a:off x="4641450" y="6116278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291" name="Google Shape;291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2" name="Google Shape;292;p19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https://www.sih.gov.in/img1/SIH-Logo.png" id="293" name="Google Shape;2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9"/>
          <p:cNvSpPr txBox="1"/>
          <p:nvPr/>
        </p:nvSpPr>
        <p:spPr>
          <a:xfrm>
            <a:off x="329775" y="1059575"/>
            <a:ext cx="6064200" cy="5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AutoNum type="arabicPeriod"/>
            </a:pPr>
            <a:r>
              <a:rPr i="0" lang="en-US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Guosheng, Xie, et al. "An intelligent defect detection system for warp-knitted fabric." </a:t>
            </a:r>
            <a:r>
              <a:rPr i="1" lang="en-US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Textile Research Journal</a:t>
            </a:r>
            <a:r>
              <a:rPr i="0" lang="en-US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92.9-10 (2022): 1394-1404.</a:t>
            </a:r>
            <a:endParaRPr i="0" u="none" cap="none" strike="noStrike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Jin, R., Niu, Q. (2021). "Improved YOLOv5-based model for automatic fabric defect detection." IEEE Transactions on Image Processing, 32(5), 433-445.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Deshmukh, S.M., Patil, G. (2022). "Fabric defect detection using statistical methods for feature extraction." Journal of Industrial Textile Engineering, 32(1), 15-28.</a:t>
            </a:r>
            <a:endParaRPr sz="1000"/>
          </a:p>
          <a:p>
            <a:pPr indent="-317500" lvl="0" marL="3429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Yang Li, Laihu Peng, Xudong Hu, "Fabric Defect Detection Based on FCN Uncertainty Feature", </a:t>
            </a:r>
            <a:r>
              <a:rPr i="1" lang="en-US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2023 IEEE 16th International Conference on Electronic Measurement &amp; Instruments (ICEMI)</a:t>
            </a: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pp.346-350, 2023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hen, J., Fu, X., He, L., Li, C., Li, J., Li, Y. (2021). "Survey on fabric defect detection in textile manufacturing." International Journal of Advanced Textile Engineering, 11(2), 107-121.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Your startup LOGO" id="295" name="Google Shape;295;p19"/>
          <p:cNvSpPr/>
          <p:nvPr/>
        </p:nvSpPr>
        <p:spPr>
          <a:xfrm>
            <a:off x="329773" y="252246"/>
            <a:ext cx="167174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FabSpector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9"/>
          <p:cNvCxnSpPr/>
          <p:nvPr/>
        </p:nvCxnSpPr>
        <p:spPr>
          <a:xfrm>
            <a:off x="6631150" y="755650"/>
            <a:ext cx="33000" cy="558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7" name="Google Shape;297;p19" title="WhatsApp Image 2025-09-24 at 10.50.36_e748455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4150" y="1059575"/>
            <a:ext cx="2726726" cy="18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title="20250924_24804PMByGPSMapCamer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0875" y="1059575"/>
            <a:ext cx="2844800" cy="18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9"/>
          <p:cNvSpPr txBox="1"/>
          <p:nvPr/>
        </p:nvSpPr>
        <p:spPr>
          <a:xfrm>
            <a:off x="6786752" y="3313025"/>
            <a:ext cx="5571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M/s. SHAKTHI KNITTING PRIVATE LIMITED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6664150" y="3689025"/>
            <a:ext cx="55716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Mentor    :  Mr. Arumugam P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B.Tech(Textile Technology)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ID                 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lang="en-US" sz="17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arumugam@shakthiknitting.com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                  :  PLOT No, P16 to P21, 5th Cross 8th      </a:t>
            </a:r>
            <a:br>
              <a:rPr lang="en-US" sz="1500"/>
            </a:br>
            <a:r>
              <a:rPr lang="en-US" sz="1500"/>
              <a:t>                                   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road, Sipcot, Perundurai,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Tamil Nadu- 638052.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6765400" y="5362000"/>
            <a:ext cx="5369100" cy="9891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6901325" y="5440900"/>
            <a:ext cx="536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survey, analysis, working and explanation video: 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https://drive.google.com/drive/folders/1uBCRgxcFI5DfS6Bi2pdIJtUXnFhkYPX-?usp=sharing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